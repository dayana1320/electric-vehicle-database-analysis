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0" r:id="rId3"/>
    <p:sldId id="260" r:id="rId4"/>
    <p:sldId id="262" r:id="rId5"/>
    <p:sldId id="282" r:id="rId6"/>
    <p:sldId id="263" r:id="rId7"/>
    <p:sldId id="265" r:id="rId8"/>
    <p:sldId id="264" r:id="rId9"/>
    <p:sldId id="266" r:id="rId10"/>
    <p:sldId id="271" r:id="rId11"/>
    <p:sldId id="268" r:id="rId12"/>
    <p:sldId id="269" r:id="rId13"/>
    <p:sldId id="270" r:id="rId14"/>
    <p:sldId id="281" r:id="rId15"/>
    <p:sldId id="273" r:id="rId16"/>
    <p:sldId id="274" r:id="rId17"/>
    <p:sldId id="276" r:id="rId18"/>
    <p:sldId id="275" r:id="rId19"/>
    <p:sldId id="277" r:id="rId20"/>
    <p:sldId id="278" r:id="rId21"/>
    <p:sldId id="279" r:id="rId22"/>
    <p:sldId id="259" r:id="rId23"/>
  </p:sldIdLst>
  <p:sldSz cx="12192000" cy="6858000"/>
  <p:notesSz cx="6858000" cy="9144000"/>
  <p:embeddedFontLst>
    <p:embeddedFont>
      <p:font typeface="Libre Baskerville" panose="02000000000000000000" pitchFamily="2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8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yana1320" TargetMode="External"/><Relationship Id="rId2" Type="http://schemas.openxmlformats.org/officeDocument/2006/relationships/hyperlink" Target="http://go.microsoft.com/fwlink/p/?LinkId=255141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v-database.org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852246" y="3717988"/>
            <a:ext cx="8909539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SzPts val="1800"/>
            </a:pPr>
            <a:r>
              <a:rPr lang="en-IN" sz="2800" dirty="0">
                <a:solidFill>
                  <a:srgbClr val="FF0000"/>
                </a:solidFill>
              </a:rPr>
              <a:t>Electric</a:t>
            </a:r>
            <a:r>
              <a:rPr lang="en-IN" sz="2800" dirty="0"/>
              <a:t> </a:t>
            </a:r>
            <a:r>
              <a:rPr lang="en-IN" sz="2800" dirty="0">
                <a:solidFill>
                  <a:schemeClr val="tx1"/>
                </a:solidFill>
              </a:rPr>
              <a:t>Vehicle</a:t>
            </a:r>
            <a:r>
              <a:rPr lang="en-IN" sz="2800" dirty="0"/>
              <a:t> Data </a:t>
            </a:r>
            <a:r>
              <a:rPr lang="en-IN" sz="2800" dirty="0">
                <a:solidFill>
                  <a:schemeClr val="tx1"/>
                </a:solidFill>
              </a:rPr>
              <a:t>Extraction</a:t>
            </a:r>
            <a:r>
              <a:rPr lang="en-IN" sz="2800" dirty="0"/>
              <a:t> and </a:t>
            </a:r>
            <a:r>
              <a:rPr lang="en-IN" sz="2800" dirty="0">
                <a:solidFill>
                  <a:schemeClr val="tx1"/>
                </a:solidFill>
              </a:rPr>
              <a:t>Analysis</a:t>
            </a:r>
            <a:r>
              <a:rPr lang="en-IN" sz="2800" dirty="0"/>
              <a:t> Using Web </a:t>
            </a:r>
            <a:r>
              <a:rPr lang="en-IN" sz="2800" dirty="0">
                <a:solidFill>
                  <a:schemeClr val="tx1"/>
                </a:solidFill>
              </a:rPr>
              <a:t>Scraping</a:t>
            </a:r>
            <a:r>
              <a:rPr lang="en-IN" sz="2800" dirty="0"/>
              <a:t> in </a:t>
            </a:r>
            <a:r>
              <a:rPr lang="en-IN" sz="2800" dirty="0">
                <a:solidFill>
                  <a:srgbClr val="FF0000"/>
                </a:solidFill>
              </a:rPr>
              <a:t>Python</a:t>
            </a:r>
          </a:p>
          <a:p>
            <a:pPr algn="ctr">
              <a:buSzPts val="1800"/>
            </a:pPr>
            <a:endParaRPr lang="en-IN" sz="2800" dirty="0">
              <a:solidFill>
                <a:srgbClr val="FF0000"/>
              </a:solidFill>
            </a:endParaRPr>
          </a:p>
          <a:p>
            <a:pPr algn="ctr">
              <a:buSzPts val="1800"/>
            </a:pPr>
            <a:endParaRPr lang="en-IN" sz="2800" dirty="0">
              <a:solidFill>
                <a:srgbClr val="FF0000"/>
              </a:solidFill>
            </a:endParaRPr>
          </a:p>
          <a:p>
            <a:pPr algn="ctr">
              <a:buSzPts val="1800"/>
            </a:pPr>
            <a:r>
              <a:rPr lang="en-IN" sz="2800" dirty="0">
                <a:solidFill>
                  <a:srgbClr val="FF0000"/>
                </a:solidFill>
              </a:rPr>
              <a:t>Prepared By :</a:t>
            </a:r>
            <a:r>
              <a:rPr lang="en-IN" sz="2800" dirty="0">
                <a:solidFill>
                  <a:schemeClr val="tx1"/>
                </a:solidFill>
              </a:rPr>
              <a:t> Velagada Dayana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15DA8-B466-12B2-AC61-70EA301CC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10896600" cy="584444"/>
          </a:xfrm>
        </p:spPr>
        <p:txBody>
          <a:bodyPr>
            <a:normAutofit fontScale="90000"/>
          </a:bodyPr>
          <a:lstStyle/>
          <a:p>
            <a:r>
              <a:rPr lang="en-IN">
                <a:solidFill>
                  <a:srgbClr val="FF0000"/>
                </a:solidFill>
              </a:rPr>
              <a:t>About Me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10AD3-8FCB-D847-07A7-22D51FA8A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113692"/>
            <a:ext cx="11049000" cy="5063271"/>
          </a:xfrm>
        </p:spPr>
        <p:txBody>
          <a:bodyPr>
            <a:normAutofit fontScale="77500" lnSpcReduction="20000"/>
          </a:bodyPr>
          <a:lstStyle/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Background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B.Sc. Computer Science Graduate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Academic Score: 94.4%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Why I Want to Learn Data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Strong interest in technology and data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Passionate about solving problems using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Looking to build a career in the data domain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Work Experience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1.5 years of experience in customer support at Tech Mahindra, handling customer queries, resolving issues efficiently, and delivering quality service while building strong communication and problem-solving skills</a:t>
            </a:r>
          </a:p>
          <a:p>
            <a:pPr marL="114300" indent="0">
              <a:buNone/>
            </a:pPr>
            <a:r>
              <a:rPr lang="en-US" dirty="0">
                <a:solidFill>
                  <a:srgbClr val="FF0000"/>
                </a:solidFill>
              </a:rPr>
              <a:t>LinkedIn &amp; GitHub</a:t>
            </a: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hlinkClick r:id="rId2"/>
              </a:rPr>
              <a:t>https://www. linkedin.com/in/velagada-dayana-90834a3a7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US" dirty="0">
                <a:solidFill>
                  <a:schemeClr val="tx1"/>
                </a:solidFill>
                <a:hlinkClick r:id="rId3"/>
              </a:rPr>
              <a:t>https://github.com/Dayana1320</a:t>
            </a: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chemeClr val="accent2"/>
              </a:solidFill>
            </a:endParaRPr>
          </a:p>
          <a:p>
            <a:pPr marL="11430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618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C5E13-901A-0EA9-5855-1234B2FE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0967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64A17-6123-DB86-D101-26C31A8CB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59877"/>
            <a:ext cx="10515600" cy="4817086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Project Overview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Objective of the Project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Data Collection Process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Data Cleaning &amp; Preprocessing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Exploratory Data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Key Analysis Questions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Results &amp; Conclusion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Challenges Faced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101862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B4AA-3424-AD61-359D-9B2B8FF16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5B064-4459-9DBB-8D6C-E720D544E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9"/>
            <a:ext cx="10515600" cy="405362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EV data is unstructured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Manual collection is time-consuming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Difficult to compare vehicle specifications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Data exists in multiple formats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High possibility of errors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Need for automation</a:t>
            </a:r>
          </a:p>
        </p:txBody>
      </p:sp>
    </p:spTree>
    <p:extLst>
      <p:ext uri="{BB962C8B-B14F-4D97-AF65-F5344CB8AC3E}">
        <p14:creationId xmlns:p14="http://schemas.microsoft.com/office/powerpoint/2010/main" val="2481629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8FF71-E68A-5355-CA3D-A2487605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Objective of the Project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AE448-6715-8A95-D49C-F97B1CB113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Extract EV data automatically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Collect vehicle specifications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Clean and preprocess the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Build a structured dataset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Support analysis and visualization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Enable future ML applications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9496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E65B-98BB-E17B-6A46-1272BDD73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Data Source &amp; Tools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8434A-BFD6-4ED8-0790-9AA2D51EC5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EV Database Website :</a:t>
            </a:r>
            <a:r>
              <a:rPr lang="en-IN" dirty="0">
                <a:hlinkClick r:id="rId2"/>
              </a:rPr>
              <a:t>https://ev-database.org/</a:t>
            </a: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IN"/>
              <a:t>Nump</a:t>
            </a:r>
            <a:r>
              <a:rPr lang="en-IN" dirty="0"/>
              <a:t>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Requests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Beautiful Soup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Pandas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Matplotlib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Seaborn</a:t>
            </a:r>
          </a:p>
        </p:txBody>
      </p:sp>
    </p:spTree>
    <p:extLst>
      <p:ext uri="{BB962C8B-B14F-4D97-AF65-F5344CB8AC3E}">
        <p14:creationId xmlns:p14="http://schemas.microsoft.com/office/powerpoint/2010/main" val="1473450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1C0B1-9C28-D75A-F7DD-D778CFFA8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Data Collection Process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23583-52D8-E9A7-849B-39A4CCAFE8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Send HTTP requests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Access webpage content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Parse HTML structure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Extract EV specifications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Store records in lists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Create Data Frame</a:t>
            </a:r>
          </a:p>
        </p:txBody>
      </p:sp>
    </p:spTree>
    <p:extLst>
      <p:ext uri="{BB962C8B-B14F-4D97-AF65-F5344CB8AC3E}">
        <p14:creationId xmlns:p14="http://schemas.microsoft.com/office/powerpoint/2010/main" val="3672530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7BDAA-382E-3822-3D85-92F5D9676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Features Extracted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99671-E9A1-A540-61A5-22B451C12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7446"/>
            <a:ext cx="10515600" cy="462951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Total No of Rows :  500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Total No of Columns : 8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Brand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Model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Battery Capacity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Range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Efficiency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Price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Weight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Fast Charge Speed</a:t>
            </a:r>
          </a:p>
        </p:txBody>
      </p:sp>
    </p:spTree>
    <p:extLst>
      <p:ext uri="{BB962C8B-B14F-4D97-AF65-F5344CB8AC3E}">
        <p14:creationId xmlns:p14="http://schemas.microsoft.com/office/powerpoint/2010/main" val="606506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9975-5591-51C0-E020-957E3E40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354" y="365125"/>
            <a:ext cx="10310446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Data Cleaning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EA67A-C78A-5B23-62ED-B584B0C55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Remove symbols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Handle missing values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Remove duplicates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Standardize units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Convert text to numeric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Improve consistency</a:t>
            </a:r>
          </a:p>
        </p:txBody>
      </p:sp>
    </p:spTree>
    <p:extLst>
      <p:ext uri="{BB962C8B-B14F-4D97-AF65-F5344CB8AC3E}">
        <p14:creationId xmlns:p14="http://schemas.microsoft.com/office/powerpoint/2010/main" val="787912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6A1E6-6404-A754-8978-F85B6D7F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Exploratory Data Analysis (EDA)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D66340-DC1D-26CC-222C-6093944BD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IN" dirty="0">
                <a:solidFill>
                  <a:srgbClr val="FF0000"/>
                </a:solidFill>
              </a:rPr>
              <a:t>Univariate Analysis                                    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Histogram                                                           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Count Plot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Box Plot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 KDE plot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Violin Plot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Bar Chart</a:t>
            </a:r>
          </a:p>
          <a:p>
            <a:pPr marL="114300" indent="0">
              <a:buNone/>
            </a:pPr>
            <a:endParaRPr lang="en-IN" dirty="0"/>
          </a:p>
          <a:p>
            <a:pPr marL="114300" indent="0">
              <a:buNone/>
            </a:pP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66E0C0-367D-C8D0-202E-A8A15016FBC0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IN" dirty="0">
                <a:solidFill>
                  <a:srgbClr val="FF0000"/>
                </a:solidFill>
              </a:rPr>
              <a:t>Bivariate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Count Plot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Bar Chart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Scatter plot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dirty="0"/>
          </a:p>
          <a:p>
            <a:pPr marL="114300" indent="0">
              <a:buNone/>
            </a:pPr>
            <a:r>
              <a:rPr lang="en-IN" dirty="0">
                <a:solidFill>
                  <a:srgbClr val="FF0000"/>
                </a:solidFill>
              </a:rPr>
              <a:t>Multivariate Analysis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Correlation Heatmap</a:t>
            </a:r>
          </a:p>
        </p:txBody>
      </p:sp>
    </p:spTree>
    <p:extLst>
      <p:ext uri="{BB962C8B-B14F-4D97-AF65-F5344CB8AC3E}">
        <p14:creationId xmlns:p14="http://schemas.microsoft.com/office/powerpoint/2010/main" val="3360982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7735-847E-441E-034C-2B1105C8FBB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75138" y="154109"/>
            <a:ext cx="11816862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Univariate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05D4CC-69FA-5F15-5BE4-28929256D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4" y="1618413"/>
            <a:ext cx="5925746" cy="41610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D66D55-1481-36CE-0672-772319102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030" y="1373819"/>
            <a:ext cx="4126523" cy="440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230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A36687-0324-D383-0DC7-C3782FA39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40" y="285086"/>
            <a:ext cx="4118834" cy="32274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F8E2F0-28DB-F69B-B4E9-548E70BCD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76292"/>
            <a:ext cx="3928759" cy="31527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C2C94E7-8AC6-E500-2CA7-D3B9BDD34D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6523" y="3512521"/>
            <a:ext cx="5189647" cy="28302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DBADF34-4E26-D295-701B-700D4E4044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6331" y="3429000"/>
            <a:ext cx="4308096" cy="2734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27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31448-52D8-D446-44BC-99A461093F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3415" y="0"/>
            <a:ext cx="11828585" cy="1538288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Bivariate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305DC1-A6B7-A4F7-6E9D-59FAAD899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415" y="1581986"/>
            <a:ext cx="4565317" cy="45663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48383E-A518-345E-A708-872B45A61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4677" y="1779736"/>
            <a:ext cx="5580185" cy="436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93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6D3801-E1FC-137A-4570-2A6E5FCF75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92" y="854448"/>
            <a:ext cx="9647978" cy="537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34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CCE51-BDB6-3CB8-8BFC-78D24CE1FA8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68215" y="66377"/>
            <a:ext cx="10503877" cy="1129378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Multivariate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262E2C4-C5D7-7865-B82C-5FAE1B9C5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15" y="1195755"/>
            <a:ext cx="8206154" cy="510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269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04BEA-E5BF-F72F-B980-725A2ED8E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Key Analysis Questions (Use Cases)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8BA20-A991-7DED-7559-500DA71DA9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Which brands offer the highest range?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How does battery capacity affect range?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Which EVs are most efficient?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What is the relationship between price and performance?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Which vehicles support faster Charging?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How do EV specifications vary across brands?</a:t>
            </a:r>
          </a:p>
        </p:txBody>
      </p:sp>
    </p:spTree>
    <p:extLst>
      <p:ext uri="{BB962C8B-B14F-4D97-AF65-F5344CB8AC3E}">
        <p14:creationId xmlns:p14="http://schemas.microsoft.com/office/powerpoint/2010/main" val="631208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24CED-82C8-BF9B-A11F-4E56F6088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Results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86498B-9CB0-179B-7856-88D4984CD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Successfully extracted EV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Built a structured dataset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Improved data accessibility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Reduced manual effort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Prepared data for visualization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Ready for further analysis</a:t>
            </a:r>
          </a:p>
        </p:txBody>
      </p:sp>
    </p:spTree>
    <p:extLst>
      <p:ext uri="{BB962C8B-B14F-4D97-AF65-F5344CB8AC3E}">
        <p14:creationId xmlns:p14="http://schemas.microsoft.com/office/powerpoint/2010/main" val="2627134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0F306-2E42-0EDD-4B62-5E990F9BB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Conclusion (Key Findings Overall)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08F6E-9964-81EA-31AF-6A17582A1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Web scraping automated data collection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Created a clean and organized dataset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Battery capacity influences vehicle range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Efficiency differs across EV brands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Structured data supports better comparison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Dataset can be used for ML applications</a:t>
            </a:r>
          </a:p>
        </p:txBody>
      </p:sp>
    </p:spTree>
    <p:extLst>
      <p:ext uri="{BB962C8B-B14F-4D97-AF65-F5344CB8AC3E}">
        <p14:creationId xmlns:p14="http://schemas.microsoft.com/office/powerpoint/2010/main" val="1635813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0FE3-11DA-E622-6C65-FAF86E78F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Challenges Faced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8E949-7CFB-11A0-5E92-EEB7F676F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Understanding webpage structure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Handling missing values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Cleaning inconsistent data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Converting text into numbers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Managing large datasets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Ensuring accurate extraction</a:t>
            </a:r>
          </a:p>
        </p:txBody>
      </p:sp>
    </p:spTree>
    <p:extLst>
      <p:ext uri="{BB962C8B-B14F-4D97-AF65-F5344CB8AC3E}">
        <p14:creationId xmlns:p14="http://schemas.microsoft.com/office/powerpoint/2010/main" val="14155635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18A47-554C-1BF2-8B0A-14B774937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Experience Working on the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87080-13A4-B85F-0985-F1E3082394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Improved Python skills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Learned web scraping techniques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Gained experience in data cleaning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Worked with real-world datasets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Practiced EDA methods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Enhanced problem-solving abilities</a:t>
            </a:r>
          </a:p>
        </p:txBody>
      </p:sp>
    </p:spTree>
    <p:extLst>
      <p:ext uri="{BB962C8B-B14F-4D97-AF65-F5344CB8AC3E}">
        <p14:creationId xmlns:p14="http://schemas.microsoft.com/office/powerpoint/2010/main" val="37513571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4A05A-CB53-F234-226F-EFC9E00139A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-1" y="768350"/>
            <a:ext cx="12004431" cy="3838819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rgbClr val="FF0000"/>
                </a:solidFill>
              </a:rPr>
              <a:t>Questions and Answers ??</a:t>
            </a:r>
          </a:p>
        </p:txBody>
      </p:sp>
    </p:spTree>
    <p:extLst>
      <p:ext uri="{BB962C8B-B14F-4D97-AF65-F5344CB8AC3E}">
        <p14:creationId xmlns:p14="http://schemas.microsoft.com/office/powerpoint/2010/main" val="11822251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81757" y="1885918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489</Words>
  <Application>Microsoft Office PowerPoint</Application>
  <PresentationFormat>Widescreen</PresentationFormat>
  <Paragraphs>131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Wingdings</vt:lpstr>
      <vt:lpstr>Calibri</vt:lpstr>
      <vt:lpstr>Libre Baskerville</vt:lpstr>
      <vt:lpstr>Office Theme</vt:lpstr>
      <vt:lpstr>PowerPoint Presentation</vt:lpstr>
      <vt:lpstr>About Me</vt:lpstr>
      <vt:lpstr>Agenda</vt:lpstr>
      <vt:lpstr>Problem Statement</vt:lpstr>
      <vt:lpstr>Objective of the Project</vt:lpstr>
      <vt:lpstr>Data Source &amp; Tools</vt:lpstr>
      <vt:lpstr>Data Collection Process</vt:lpstr>
      <vt:lpstr>Features Extracted</vt:lpstr>
      <vt:lpstr>Data Cleaning</vt:lpstr>
      <vt:lpstr>Exploratory Data Analysis (EDA)</vt:lpstr>
      <vt:lpstr>Univariate Analysis</vt:lpstr>
      <vt:lpstr>PowerPoint Presentation</vt:lpstr>
      <vt:lpstr>Bivariate Analysis</vt:lpstr>
      <vt:lpstr>PowerPoint Presentation</vt:lpstr>
      <vt:lpstr>Multivariate Analysis</vt:lpstr>
      <vt:lpstr>Key Analysis Questions (Use Cases)</vt:lpstr>
      <vt:lpstr>Results</vt:lpstr>
      <vt:lpstr>Conclusion (Key Findings Overall)</vt:lpstr>
      <vt:lpstr>Challenges Faced</vt:lpstr>
      <vt:lpstr>Experience Working on the Project</vt:lpstr>
      <vt:lpstr>Questions and Answers ??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velagada dayana</cp:lastModifiedBy>
  <cp:revision>10</cp:revision>
  <dcterms:created xsi:type="dcterms:W3CDTF">2021-02-16T05:19:01Z</dcterms:created>
  <dcterms:modified xsi:type="dcterms:W3CDTF">2026-06-30T18:41:21Z</dcterms:modified>
</cp:coreProperties>
</file>